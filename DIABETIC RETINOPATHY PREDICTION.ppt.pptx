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7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872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741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304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205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786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505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616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402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153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502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572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383901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378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637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60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6053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3540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41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/>
    </p:bldLst>
  </p:timing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903" y="1809311"/>
            <a:ext cx="8676774" cy="1320493"/>
          </a:xfrm>
        </p:spPr>
        <p:txBody>
          <a:bodyPr>
            <a:normAutofit/>
          </a:bodyPr>
          <a:lstStyle/>
          <a:p>
            <a:r>
              <a:rPr lang="en-US" altLang="en-GB" sz="4600" dirty="0"/>
              <a:t>Diabetic Retinopathy Prediction</a:t>
            </a:r>
          </a:p>
        </p:txBody>
      </p:sp>
      <p:pic>
        <p:nvPicPr>
          <p:cNvPr id="5" name="Picture 4" descr="logo.3e4e292b8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482256"/>
            <a:ext cx="5238750" cy="14573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502138" y="3728196"/>
            <a:ext cx="4945380" cy="2564654"/>
          </a:xfrm>
          <a:prstGeom prst="rect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IN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Team : Group 5</a:t>
            </a:r>
          </a:p>
          <a:p>
            <a:pPr indent="0">
              <a:buFont typeface="Wingdings" panose="05000000000000000000" charset="0"/>
              <a:buNone/>
            </a:pPr>
            <a:endParaRPr lang="en-IN" altLang="en-US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GB" sz="1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INDUKURI </a:t>
            </a:r>
            <a:r>
              <a:rPr lang="en-US" altLang="en-GB" sz="12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SANJAY</a:t>
            </a:r>
            <a:r>
              <a:rPr lang="en-US" altLang="en-GB" sz="1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VARMA</a:t>
            </a: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GB" sz="12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TIRUMALA SRI SAI TEJA</a:t>
            </a: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GB" sz="12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ANJALI SHAMKANT BHAMARE</a:t>
            </a: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GB" sz="12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ASWANTH P</a:t>
            </a: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GB" sz="12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MAHESH Y DINDALAKOPPA</a:t>
            </a: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GB" sz="12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SUMIT KUMAR MISHRA</a:t>
            </a: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GB" sz="12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SWEETY KOPPULA</a:t>
            </a:r>
          </a:p>
          <a:p>
            <a:pPr>
              <a:lnSpc>
                <a:spcPct val="150000"/>
              </a:lnSpc>
            </a:pPr>
            <a:r>
              <a:rPr lang="en-US" altLang="en-GB" sz="12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v"/>
            </a:pPr>
            <a:endParaRPr lang="en-US" altLang="en-GB" sz="1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57984"/>
            <a:ext cx="7704667" cy="3621024"/>
          </a:xfrm>
        </p:spPr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r>
              <a:rPr dirty="0"/>
              <a:t> Introduction &amp; Objective</a:t>
            </a:r>
          </a:p>
          <a:p>
            <a:pPr>
              <a:buFont typeface="Wingdings" panose="05000000000000000000" charset="0"/>
              <a:buChar char="Ø"/>
            </a:pPr>
            <a:r>
              <a:rPr dirty="0"/>
              <a:t> Data Overview</a:t>
            </a:r>
          </a:p>
          <a:p>
            <a:pPr>
              <a:buFont typeface="Wingdings" panose="05000000000000000000" charset="0"/>
              <a:buChar char="Ø"/>
            </a:pPr>
            <a:r>
              <a:rPr dirty="0"/>
              <a:t> Exploratory Data Analysis (EDA)</a:t>
            </a:r>
          </a:p>
          <a:p>
            <a:pPr>
              <a:buFont typeface="Wingdings" panose="05000000000000000000" charset="0"/>
              <a:buChar char="Ø"/>
            </a:pPr>
            <a:r>
              <a:rPr dirty="0"/>
              <a:t> Model Building</a:t>
            </a:r>
            <a:endParaRPr lang="en-IN" dirty="0"/>
          </a:p>
          <a:p>
            <a:pPr>
              <a:buFont typeface="Wingdings" panose="05000000000000000000" charset="0"/>
              <a:buChar char="Ø"/>
            </a:pPr>
            <a:r>
              <a:rPr lang="en-IN" dirty="0"/>
              <a:t> Model Evaluation</a:t>
            </a:r>
            <a:endParaRPr dirty="0"/>
          </a:p>
          <a:p>
            <a:pPr>
              <a:buFont typeface="Wingdings" panose="05000000000000000000" charset="0"/>
              <a:buChar char="Ø"/>
            </a:pPr>
            <a:r>
              <a:rPr dirty="0"/>
              <a:t> Deployment (</a:t>
            </a:r>
            <a:r>
              <a:rPr lang="en-IN" dirty="0"/>
              <a:t>Streamlit</a:t>
            </a:r>
            <a:r>
              <a:rPr dirty="0"/>
              <a:t> App)</a:t>
            </a:r>
          </a:p>
          <a:p>
            <a:pPr>
              <a:buFont typeface="Wingdings" panose="05000000000000000000" charset="0"/>
              <a:buChar char="Ø"/>
            </a:pPr>
            <a:r>
              <a:rPr dirty="0"/>
              <a:t> Results &amp; Insights</a:t>
            </a:r>
          </a:p>
          <a:p>
            <a:pPr>
              <a:buFont typeface="Wingdings" panose="05000000000000000000" charset="0"/>
              <a:buChar char="Ø"/>
            </a:pPr>
            <a:r>
              <a:rPr dirty="0"/>
              <a:t>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477" y="1964690"/>
            <a:ext cx="5371609" cy="436728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charset="0"/>
              <a:buChar char="Ø"/>
            </a:pPr>
            <a:r>
              <a:rPr sz="2000" b="1" dirty="0"/>
              <a:t>Aim</a:t>
            </a:r>
            <a:r>
              <a:rPr sz="2000" dirty="0"/>
              <a:t>: </a:t>
            </a:r>
            <a:r>
              <a:rPr lang="en-US" dirty="0"/>
              <a:t>To develop a machine learning model that can accurately predict the target variable using the given dataset.</a:t>
            </a:r>
          </a:p>
          <a:p>
            <a:pPr>
              <a:buFont typeface="Wingdings" panose="05000000000000000000" charset="0"/>
              <a:buChar char="Ø"/>
            </a:pPr>
            <a:r>
              <a:rPr sz="2000" b="1" dirty="0"/>
              <a:t>Importance</a:t>
            </a:r>
            <a:r>
              <a:rPr sz="2000" dirty="0"/>
              <a:t>: </a:t>
            </a:r>
            <a:r>
              <a:rPr lang="en-US" dirty="0"/>
              <a:t>Helps in </a:t>
            </a:r>
            <a:r>
              <a:rPr lang="en-US" b="1" dirty="0"/>
              <a:t>data-driven decision making</a:t>
            </a:r>
            <a:r>
              <a:rPr lang="en-US" dirty="0"/>
              <a:t> instead of relying on assumptions.</a:t>
            </a:r>
          </a:p>
          <a:p>
            <a:pPr>
              <a:buFont typeface="Wingdings" panose="05000000000000000000" charset="0"/>
              <a:buChar char="Ø"/>
            </a:pPr>
            <a:r>
              <a:rPr sz="2000" b="1" dirty="0"/>
              <a:t>Objective</a:t>
            </a:r>
            <a:r>
              <a:rPr sz="2000" dirty="0"/>
              <a:t>: </a:t>
            </a:r>
            <a:r>
              <a:rPr lang="en-US" dirty="0"/>
              <a:t>To preprocess the data, perform EDA, build and evaluate multiple models, and deploy the best model using a Streamlit app.</a:t>
            </a:r>
          </a:p>
          <a:p>
            <a:pPr>
              <a:buFont typeface="Wingdings" panose="05000000000000000000" charset="0"/>
              <a:buChar char="Ø"/>
            </a:pPr>
            <a:r>
              <a:rPr sz="2000" b="1" dirty="0"/>
              <a:t>Application</a:t>
            </a:r>
            <a:r>
              <a:rPr sz="2000" dirty="0"/>
              <a:t>: </a:t>
            </a:r>
            <a:r>
              <a:rPr lang="en-US" dirty="0"/>
              <a:t>This project can be applied in domains like business, finance, healthcare, and marketing for prediction and decision-making.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2C2022-4359-D22D-381A-DACED7F38A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24956" y="2615380"/>
            <a:ext cx="2964091" cy="21827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3" y="1796872"/>
            <a:ext cx="7653867" cy="25096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 </a:t>
            </a:r>
            <a:r>
              <a:rPr lang="en-US" dirty="0"/>
              <a:t>The dataset contains rows as observations and columns as features.</a:t>
            </a:r>
            <a:r>
              <a:rPr sz="2000" dirty="0"/>
              <a:t> 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 </a:t>
            </a:r>
            <a:r>
              <a:rPr lang="en-US" dirty="0"/>
              <a:t>It includes numerical, categorical, and target variables.</a:t>
            </a:r>
            <a:r>
              <a:rPr sz="2000" dirty="0"/>
              <a:t> </a:t>
            </a:r>
            <a:r>
              <a:rPr lang="en-US" sz="2000" dirty="0"/>
              <a:t>Strong correlation among price columns.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Basic checks involve shape, data types, and summary statistics.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It can show skewness, correlations, and class imbalance.</a:t>
            </a:r>
          </a:p>
          <a:p>
            <a:pPr>
              <a:buFont typeface="Wingdings" panose="05000000000000000000" pitchFamily="2" charset="2"/>
              <a:buChar char="Ø"/>
            </a:pPr>
            <a:endParaRPr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9BA08A-1033-1AED-1735-FA9BC5E9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87019" y="4532671"/>
            <a:ext cx="5684594" cy="17623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667" y="1984750"/>
            <a:ext cx="7704667" cy="161713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EDA is used to understand data distribution and patterns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Univariate analysis examines individual feature behavior.</a:t>
            </a:r>
            <a:r>
              <a:rPr sz="2000" dirty="0"/>
              <a:t> 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Bivariate analysis identifies relationships between variables.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Visualizations like histograms, boxplots, and heatmaps reveal insights.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EDA helps detect outliers, correlations, and important features.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56434F-30E7-3DBF-223B-7298364635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31328" y="4002858"/>
            <a:ext cx="3150089" cy="25056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80425C-CF38-B9B9-617F-3E3CE61B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5191" y="3962293"/>
            <a:ext cx="3505283" cy="25867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93799"/>
          </a:xfrm>
        </p:spPr>
        <p:txBody>
          <a:bodyPr/>
          <a:lstStyle/>
          <a:p>
            <a:r>
              <a:rPr dirty="0"/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066" y="1651000"/>
            <a:ext cx="7704667" cy="226906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Feature Selection and Target Definition:</a:t>
            </a:r>
            <a:r>
              <a:rPr lang="en-US" dirty="0"/>
              <a:t> Relevant features are selected and the target variable is defined for prediction.</a:t>
            </a:r>
          </a:p>
          <a:p>
            <a:r>
              <a:rPr lang="en-US" b="1" dirty="0"/>
              <a:t>Data Splitting:</a:t>
            </a:r>
            <a:r>
              <a:rPr lang="en-US" dirty="0"/>
              <a:t> The dataset is divided into training and testing sets to evaluate model performance.</a:t>
            </a:r>
          </a:p>
          <a:p>
            <a:r>
              <a:rPr lang="en-US" b="1" dirty="0"/>
              <a:t>Model Selection:</a:t>
            </a:r>
            <a:r>
              <a:rPr lang="en-US" dirty="0"/>
              <a:t> Appropriate machine learning algorithms are chosen based on the problem type.</a:t>
            </a:r>
          </a:p>
          <a:p>
            <a:r>
              <a:rPr lang="en-US" b="1" dirty="0"/>
              <a:t>Model Training:</a:t>
            </a:r>
            <a:r>
              <a:rPr lang="en-US" dirty="0"/>
              <a:t> The selected models are trained using the training data to learn patterns.</a:t>
            </a:r>
          </a:p>
        </p:txBody>
      </p:sp>
      <p:sp>
        <p:nvSpPr>
          <p:cNvPr id="4" name="Oval 3"/>
          <p:cNvSpPr/>
          <p:nvPr/>
        </p:nvSpPr>
        <p:spPr>
          <a:xfrm>
            <a:off x="811160" y="3813478"/>
            <a:ext cx="3972232" cy="2787044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IN" altLang="en-US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I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altLang="en-US" b="1" dirty="0">
                <a:latin typeface="Arial" panose="020B0604020202020204" pitchFamily="34" charset="0"/>
                <a:ea typeface="SimSun" panose="02010600030101010101" pitchFamily="2" charset="-122"/>
              </a:rPr>
              <a:t>   ALGORITHMS USED: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I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Logistic Regression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GB" sz="2400" dirty="0">
                <a:latin typeface="Arial" panose="020B0604020202020204" pitchFamily="34" charset="0"/>
                <a:ea typeface="SimSun" panose="02010600030101010101" pitchFamily="2" charset="-122"/>
              </a:rPr>
              <a:t>Random Forest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GB" sz="2400" dirty="0">
                <a:latin typeface="Arial" panose="020B0604020202020204" pitchFamily="34" charset="0"/>
                <a:ea typeface="SimSun" panose="02010600030101010101" pitchFamily="2" charset="-122"/>
              </a:rPr>
              <a:t>SVM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GB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Naive Bayes </a:t>
            </a:r>
            <a:endParaRPr lang="en-US" altLang="en-GB" sz="2400" dirty="0"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3B41BD-DCF1-61E0-C871-E318E7EDD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2" y="3689265"/>
            <a:ext cx="4129548" cy="271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4B55-8A5F-135D-8FCC-08EDC800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08155"/>
            <a:ext cx="7704667" cy="1848464"/>
          </a:xfrm>
        </p:spPr>
        <p:txBody>
          <a:bodyPr/>
          <a:lstStyle/>
          <a:p>
            <a:r>
              <a:rPr lang="en-IN" dirty="0"/>
              <a:t>Model Evaluation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181BE-7B7D-102A-7D3D-98FC6255F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676" y="1435510"/>
            <a:ext cx="7261124" cy="2576051"/>
          </a:xfrm>
        </p:spPr>
        <p:txBody>
          <a:bodyPr>
            <a:normAutofit fontScale="92500" lnSpcReduction="20000"/>
          </a:bodyPr>
          <a:lstStyle/>
          <a:p>
            <a:r>
              <a:rPr lang="en-US" sz="1400" b="1" dirty="0"/>
              <a:t>Prediction:</a:t>
            </a:r>
            <a:r>
              <a:rPr lang="en-US" sz="1400" dirty="0"/>
              <a:t> The trained model is used to predict outcomes on test data.</a:t>
            </a:r>
          </a:p>
          <a:p>
            <a:r>
              <a:rPr lang="en-US" sz="1400" b="1" dirty="0"/>
              <a:t>Metrics Calculation:</a:t>
            </a:r>
            <a:r>
              <a:rPr lang="en-US" sz="1400" dirty="0"/>
              <a:t> Performance is measured using metrics like Precision , Recall and F1 score.</a:t>
            </a:r>
          </a:p>
          <a:p>
            <a:r>
              <a:rPr lang="en-US" sz="1400" b="1" dirty="0"/>
              <a:t>Hyperparameter Tuning:</a:t>
            </a:r>
            <a:r>
              <a:rPr lang="en-US" sz="1400" dirty="0"/>
              <a:t> Model parameters are optimized to improve accuracy and reduce errors.</a:t>
            </a:r>
          </a:p>
          <a:p>
            <a:r>
              <a:rPr lang="en-US" sz="1400" b="1" dirty="0"/>
              <a:t>Predictive Power Score (PPS) and Correlation Analysis: </a:t>
            </a:r>
            <a:r>
              <a:rPr lang="en-US" sz="1400" dirty="0"/>
              <a:t>Relationships and feature importance are analyzed to understand predictive strength.</a:t>
            </a:r>
          </a:p>
          <a:p>
            <a:r>
              <a:rPr lang="en-US" sz="1400" b="1" dirty="0"/>
              <a:t>Model Saving:</a:t>
            </a:r>
            <a:r>
              <a:rPr lang="en-US" sz="1400" dirty="0"/>
              <a:t> The final optimized model is saved using tools like pickle or job lib for deployment.</a:t>
            </a:r>
          </a:p>
          <a:p>
            <a:r>
              <a:rPr lang="en-US" sz="1400" dirty="0"/>
              <a:t>As we got the logistic regression as the best model, we are going to do a deployment prediction (Streamlit App) to generate the predictions based on given inputs.</a:t>
            </a: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6342D-65CC-BB5B-E0BB-E8A82C2929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0439" y="4011561"/>
            <a:ext cx="4399936" cy="26055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0AE271-4142-D700-EC00-8003F40FD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376" y="4011561"/>
            <a:ext cx="4183624" cy="254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2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2157" y="127001"/>
            <a:ext cx="7624643" cy="731184"/>
          </a:xfrm>
        </p:spPr>
        <p:txBody>
          <a:bodyPr/>
          <a:lstStyle/>
          <a:p>
            <a:r>
              <a:rPr dirty="0"/>
              <a:t>Deployment (Streamlit App)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2157" y="1165057"/>
            <a:ext cx="7704667" cy="2070735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dirty="0"/>
              <a:t>The trained model is loaded into a Streamlit application for user interaction.</a:t>
            </a:r>
          </a:p>
          <a:p>
            <a:pPr>
              <a:buFont typeface="Wingdings" panose="05000000000000000000" charset="0"/>
              <a:buChar char="Ø"/>
            </a:pPr>
            <a:r>
              <a:rPr lang="en-US" dirty="0"/>
              <a:t>A simple user interface is created to accept input features from users.</a:t>
            </a:r>
          </a:p>
          <a:p>
            <a:pPr>
              <a:buFont typeface="Wingdings" panose="05000000000000000000" charset="0"/>
              <a:buChar char="Ø"/>
            </a:pPr>
            <a:r>
              <a:rPr lang="en-US" dirty="0"/>
              <a:t>The input data is processed and converted into the required format for prediction.</a:t>
            </a:r>
          </a:p>
          <a:p>
            <a:pPr>
              <a:buFont typeface="Wingdings" panose="05000000000000000000" charset="0"/>
              <a:buChar char="Ø"/>
            </a:pPr>
            <a:r>
              <a:rPr lang="en-US" dirty="0"/>
              <a:t>The model generates predictions based on the given inputs.</a:t>
            </a:r>
          </a:p>
          <a:p>
            <a:pPr>
              <a:buFont typeface="Wingdings" panose="05000000000000000000" charset="0"/>
              <a:buChar char="Ø"/>
            </a:pPr>
            <a:r>
              <a:rPr lang="en-US" dirty="0"/>
              <a:t>The prediction results are displayed instantly on the web app.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716CFD-3DFC-2E4A-C908-12C2CC3F35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84670" y="3542664"/>
            <a:ext cx="6577781" cy="29466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28601"/>
            <a:ext cx="7704667" cy="629584"/>
          </a:xfrm>
        </p:spPr>
        <p:txBody>
          <a:bodyPr>
            <a:normAutofit fontScale="90000"/>
          </a:bodyPr>
          <a:lstStyle/>
          <a:p>
            <a:r>
              <a:rPr dirty="0"/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385" y="1031442"/>
            <a:ext cx="7704667" cy="2279025"/>
          </a:xfrm>
        </p:spPr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sz="1800" dirty="0"/>
              <a:t>The model achieved good accuracy and performed well on test data.</a:t>
            </a:r>
          </a:p>
          <a:p>
            <a:pPr>
              <a:buFont typeface="Wingdings" panose="05000000000000000000" charset="0"/>
              <a:buChar char="Ø"/>
            </a:pPr>
            <a:r>
              <a:rPr lang="en-US" sz="1800" dirty="0"/>
              <a:t>Important features were identified as key drivers of predictions.</a:t>
            </a:r>
          </a:p>
          <a:p>
            <a:pPr>
              <a:buFont typeface="Wingdings" panose="05000000000000000000" charset="0"/>
              <a:buChar char="Ø"/>
            </a:pPr>
            <a:r>
              <a:rPr lang="en-US" sz="1800" dirty="0"/>
              <a:t>Data preprocessing and outlier handling improved model performance.</a:t>
            </a:r>
          </a:p>
          <a:p>
            <a:pPr>
              <a:buFont typeface="Wingdings" panose="05000000000000000000" charset="0"/>
              <a:buChar char="Ø"/>
            </a:pPr>
            <a:r>
              <a:rPr lang="en-US" sz="1800" dirty="0"/>
              <a:t>Strong relationships between variables were observed through analysis.</a:t>
            </a:r>
          </a:p>
          <a:p>
            <a:pPr>
              <a:buFont typeface="Wingdings" panose="05000000000000000000" charset="0"/>
              <a:buChar char="Ø"/>
            </a:pPr>
            <a:r>
              <a:rPr lang="en-US" sz="1800" dirty="0"/>
              <a:t>The model provides reliable predictions for decision-making.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C0B9C-3626-9897-F511-2DA98F122D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33832" y="3547534"/>
            <a:ext cx="6479458" cy="2607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883B-A810-A10E-E4F9-349121A0D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CHALLENGES FACED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D5C7-61AA-7CBF-3F13-BAA8A762F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of medical meaning of variables such as systolic and diastolic , cholesterol.</a:t>
            </a:r>
          </a:p>
          <a:p>
            <a:r>
              <a:rPr lang="en-US" dirty="0"/>
              <a:t>During visualization of boxplots , we have got outliers so , instead of removing them blindly we analyzed them carefully because extreme values may represent high-risk patients.</a:t>
            </a:r>
          </a:p>
          <a:p>
            <a:r>
              <a:rPr lang="en-US" dirty="0"/>
              <a:t>We used scatter plots and correlation heatmaps to identify relationships between features like blood pressure and cholesterol.</a:t>
            </a:r>
          </a:p>
          <a:p>
            <a:r>
              <a:rPr lang="en-US" dirty="0"/>
              <a:t>Multiple visualizations were used to better understand trends and distributions in the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324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27122"/>
            <a:ext cx="7704667" cy="3519949"/>
          </a:xfrm>
        </p:spPr>
        <p:txBody>
          <a:bodyPr>
            <a:normAutofit/>
          </a:bodyPr>
          <a:lstStyle/>
          <a:p>
            <a:r>
              <a:rPr lang="en-US" dirty="0"/>
              <a:t>The project successfully built a complete machine learning pipeline from data preprocessing to deployment.</a:t>
            </a:r>
          </a:p>
          <a:p>
            <a:r>
              <a:rPr lang="en-US" dirty="0"/>
              <a:t>Exploratory Data Analysis helped in understanding patterns and improving data quality.</a:t>
            </a:r>
          </a:p>
          <a:p>
            <a:r>
              <a:rPr lang="en-US" dirty="0"/>
              <a:t>Multiple models were evaluated to select the best-performing one.</a:t>
            </a:r>
          </a:p>
          <a:p>
            <a:r>
              <a:rPr lang="en-US" dirty="0"/>
              <a:t>The deployed Streamlit app makes the model accessible for real-time use.</a:t>
            </a:r>
          </a:p>
          <a:p>
            <a:r>
              <a:rPr lang="en-US" dirty="0"/>
              <a:t>The solution enables accurate predictions and supports data-driven decision-making.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8723" y="2330246"/>
            <a:ext cx="2546553" cy="1877688"/>
          </a:xfrm>
        </p:spPr>
        <p:txBody>
          <a:bodyPr>
            <a:norm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3905</TotalTime>
  <Words>709</Words>
  <Application>Microsoft Office PowerPoint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Algerian</vt:lpstr>
      <vt:lpstr>Arial</vt:lpstr>
      <vt:lpstr>Calisto MT</vt:lpstr>
      <vt:lpstr>Wingdings</vt:lpstr>
      <vt:lpstr>Wingdings 2</vt:lpstr>
      <vt:lpstr>Slate</vt:lpstr>
      <vt:lpstr>Diabetic Retinopathy Prediction</vt:lpstr>
      <vt:lpstr>AGENDA</vt:lpstr>
      <vt:lpstr>Introduction &amp; Objective</vt:lpstr>
      <vt:lpstr>Data Overview</vt:lpstr>
      <vt:lpstr>Exploratory Data Analysis (EDA)</vt:lpstr>
      <vt:lpstr>Model Building</vt:lpstr>
      <vt:lpstr>Model Evaluation </vt:lpstr>
      <vt:lpstr>Deployment (Streamlit App)</vt:lpstr>
      <vt:lpstr>Results &amp; Insights</vt:lpstr>
      <vt:lpstr>CHALLENGES FACED 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TIRUMALA SRI SAI TEJA</dc:creator>
  <dc:description>generated using python-pptx</dc:description>
  <cp:lastModifiedBy>TIRUMALA SRI SAI TEJA</cp:lastModifiedBy>
  <cp:revision>20</cp:revision>
  <dcterms:created xsi:type="dcterms:W3CDTF">2013-01-27T09:14:00Z</dcterms:created>
  <dcterms:modified xsi:type="dcterms:W3CDTF">2026-03-28T06:59:10Z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6C315E05E7C54104AF27819B55194F0D_12</vt:lpwstr>
  </property>
  <property fmtid="{D5CDD505-2E9C-101B-9397-08002B2CF9AE}" pid="3" name="KSOProductBuildVer">
    <vt:lpwstr>2057-12.2.0.21936</vt:lpwstr>
  </property>
</Properties>
</file>