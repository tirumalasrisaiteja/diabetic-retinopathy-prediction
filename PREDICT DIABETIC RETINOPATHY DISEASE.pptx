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2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85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17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82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144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20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88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89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122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27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77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79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5183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474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67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653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772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29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5676BC1-A971-40DC-BA9B-3CF72DB23AA7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A5B75-5947-4B61-9AC4-542B072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7028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FBA7-4556-AACF-A7B0-3E098ED18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369655"/>
            <a:ext cx="11274358" cy="1605051"/>
          </a:xfrm>
        </p:spPr>
        <p:txBody>
          <a:bodyPr>
            <a:noAutofit/>
          </a:bodyPr>
          <a:lstStyle/>
          <a:p>
            <a:pPr algn="ctr"/>
            <a:r>
              <a:rPr lang="en-IN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Bell MT" panose="02020503060305020303" pitchFamily="18" charset="0"/>
              </a:rPr>
              <a:t>PREDICT DIABETIC RETINOPATHY DISEASE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B809D0-601A-1586-1AC6-A46E36D0F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3019" y="2081719"/>
            <a:ext cx="10085962" cy="4289898"/>
          </a:xfrm>
          <a:ln>
            <a:noFill/>
          </a:ln>
        </p:spPr>
        <p:txBody>
          <a:bodyPr>
            <a:normAutofit fontScale="32500" lnSpcReduction="20000"/>
          </a:bodyPr>
          <a:lstStyle/>
          <a:p>
            <a:pPr algn="ctr"/>
            <a:r>
              <a:rPr lang="en-US" sz="590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Excelr | Data Scie</a:t>
            </a:r>
            <a:r>
              <a:rPr lang="en-US" sz="590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nce Course</a:t>
            </a:r>
            <a:endParaRPr lang="en-US" sz="5900">
              <a:solidFill>
                <a:schemeClr val="accent1">
                  <a:lumMod val="75000"/>
                </a:schemeClr>
              </a:solidFill>
              <a:latin typeface="Bell MT" panose="02020503060305020303" pitchFamily="18" charset="0"/>
            </a:endParaRPr>
          </a:p>
          <a:p>
            <a:pPr lvl="1" algn="l"/>
            <a:endParaRPr lang="en-US" b="1">
              <a:latin typeface="Bell MT" panose="02020503060305020303" pitchFamily="18" charset="0"/>
            </a:endParaRPr>
          </a:p>
          <a:p>
            <a:pPr lvl="1" algn="l">
              <a:lnSpc>
                <a:spcPct val="170000"/>
              </a:lnSpc>
            </a:pPr>
            <a:r>
              <a:rPr lang="en-US" sz="7800" b="1">
                <a:solidFill>
                  <a:schemeClr val="tx1"/>
                </a:solidFill>
                <a:latin typeface="Bell MT" panose="02020503060305020303" pitchFamily="18" charset="0"/>
              </a:rPr>
              <a:t>Group 5 Members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6000" cap="none">
                <a:solidFill>
                  <a:schemeClr val="tx1"/>
                </a:solidFill>
                <a:latin typeface="Bell MT" panose="02020503060305020303" pitchFamily="18" charset="0"/>
              </a:rPr>
              <a:t>Indukuri sanjay varma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6000" cap="none">
                <a:solidFill>
                  <a:schemeClr val="tx1"/>
                </a:solidFill>
                <a:latin typeface="Bell MT" panose="02020503060305020303" pitchFamily="18" charset="0"/>
              </a:rPr>
              <a:t>Tirumala sri sai teja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6000" cap="none">
                <a:solidFill>
                  <a:schemeClr val="tx1"/>
                </a:solidFill>
                <a:latin typeface="Bell MT" panose="02020503060305020303" pitchFamily="18" charset="0"/>
              </a:rPr>
              <a:t>Anjali shamkant bhamare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6000" cap="none">
                <a:solidFill>
                  <a:schemeClr val="tx1"/>
                </a:solidFill>
                <a:latin typeface="Bell MT" panose="02020503060305020303" pitchFamily="18" charset="0"/>
              </a:rPr>
              <a:t>Aswanth 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6000" cap="none">
                <a:solidFill>
                  <a:schemeClr val="tx1"/>
                </a:solidFill>
                <a:latin typeface="Bell MT" panose="02020503060305020303" pitchFamily="18" charset="0"/>
              </a:rPr>
              <a:t>Mahesh y dindalakoppa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6000" cap="none">
                <a:solidFill>
                  <a:schemeClr val="tx1"/>
                </a:solidFill>
                <a:latin typeface="Bell MT" panose="02020503060305020303" pitchFamily="18" charset="0"/>
              </a:rPr>
              <a:t>Sumit kumar mishra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6000" cap="none">
                <a:solidFill>
                  <a:schemeClr val="tx1"/>
                </a:solidFill>
                <a:latin typeface="Bell MT" panose="02020503060305020303" pitchFamily="18" charset="0"/>
              </a:rPr>
              <a:t>Sweety koppula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1D35DA-3A45-3C5A-312D-4BF46C1BE601}"/>
              </a:ext>
            </a:extLst>
          </p:cNvPr>
          <p:cNvCxnSpPr>
            <a:cxnSpLocks/>
          </p:cNvCxnSpPr>
          <p:nvPr/>
        </p:nvCxnSpPr>
        <p:spPr>
          <a:xfrm>
            <a:off x="2937752" y="1974713"/>
            <a:ext cx="5684197" cy="0"/>
          </a:xfrm>
          <a:prstGeom prst="line">
            <a:avLst/>
          </a:prstGeom>
          <a:ln w="38100">
            <a:solidFill>
              <a:schemeClr val="accent1"/>
            </a:solidFill>
          </a:ln>
          <a:effectLst>
            <a:reflection blurRad="6350" stA="50000" endA="300" endPos="55000" dir="5400000" sy="-100000" algn="bl" rotWithShape="0"/>
            <a:softEdge rad="12700"/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1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07B2-3C68-7104-85F1-296AABDD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740" y="540224"/>
            <a:ext cx="10515600" cy="1346942"/>
          </a:xfr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>
                <a:solidFill>
                  <a:schemeClr val="tx1"/>
                </a:solidFill>
                <a:latin typeface="Bell MT" panose="02020503060305020303" pitchFamily="18" charset="0"/>
              </a:rPr>
              <a:t>Agenda</a:t>
            </a:r>
            <a:endParaRPr lang="en-IN" b="1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6E36-843F-98E5-5492-77F3BD8D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740" y="1984443"/>
            <a:ext cx="10749064" cy="391051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>
                <a:solidFill>
                  <a:schemeClr val="tx1"/>
                </a:solidFill>
                <a:latin typeface="Bell MT" panose="02020503060305020303" pitchFamily="18" charset="0"/>
              </a:rPr>
              <a:t>Introduction and Objective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Dataset Overview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Exploratory Data Analysis (EDA)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Feature Engineering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Model Building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Model Evaluation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Deployment &amp; </a:t>
            </a:r>
            <a:r>
              <a:rPr lang="en-IN" sz="2400" err="1">
                <a:solidFill>
                  <a:schemeClr val="tx1"/>
                </a:solidFill>
                <a:latin typeface="Bell MT" panose="02020503060305020303" pitchFamily="18" charset="0"/>
              </a:rPr>
              <a:t>Streamlit</a:t>
            </a: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 App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Results &amp; Insights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>
                <a:solidFill>
                  <a:schemeClr val="tx1"/>
                </a:solidFill>
                <a:latin typeface="Bell MT" panose="02020503060305020303" pitchFamily="18" charset="0"/>
              </a:rPr>
              <a:t>Conclusion</a:t>
            </a:r>
          </a:p>
          <a:p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BB7A45-BCC7-06D7-1DD5-B50ABF6CE557}"/>
              </a:ext>
            </a:extLst>
          </p:cNvPr>
          <p:cNvCxnSpPr>
            <a:cxnSpLocks/>
          </p:cNvCxnSpPr>
          <p:nvPr/>
        </p:nvCxnSpPr>
        <p:spPr>
          <a:xfrm>
            <a:off x="711740" y="1429966"/>
            <a:ext cx="20622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71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715-10A7-A4C5-038F-606B4BD66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651" y="549954"/>
            <a:ext cx="10515600" cy="987020"/>
          </a:xfrm>
        </p:spPr>
        <p:txBody>
          <a:bodyPr/>
          <a:lstStyle/>
          <a:p>
            <a:r>
              <a:rPr lang="en-US" b="1">
                <a:latin typeface="Bell MT" panose="02020503060305020303" pitchFamily="18" charset="0"/>
              </a:rPr>
              <a:t>Project title and Introduction</a:t>
            </a:r>
            <a:endParaRPr lang="en-IN" b="1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2A295-D6EB-FFAE-D545-A6AE80DB2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998"/>
            <a:ext cx="10515600" cy="37937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>
                <a:latin typeface="Bell MT" panose="02020503060305020303" pitchFamily="18" charset="0"/>
              </a:rPr>
              <a:t>Title: </a:t>
            </a:r>
            <a:r>
              <a:rPr lang="en-US" sz="2400">
                <a:latin typeface="Bell MT" panose="02020503060305020303" pitchFamily="18" charset="0"/>
              </a:rPr>
              <a:t>Diabetic Retinopathy Prediction using Machine Learning.</a:t>
            </a:r>
          </a:p>
          <a:p>
            <a:pPr>
              <a:lnSpc>
                <a:spcPct val="150000"/>
              </a:lnSpc>
            </a:pPr>
            <a:r>
              <a:rPr lang="en-IN" sz="2400" b="1">
                <a:latin typeface="Bell MT" panose="02020503060305020303" pitchFamily="18" charset="0"/>
              </a:rPr>
              <a:t>Objective: </a:t>
            </a:r>
            <a:r>
              <a:rPr lang="en-US" sz="2400">
                <a:latin typeface="Bell MT" panose="02020503060305020303" pitchFamily="18" charset="0"/>
              </a:rPr>
              <a:t>To develop a predictive model that identifies the presence of retinopathy based on patient clinical metrics like age, blood pressure, and cholesterol levels.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Bell MT" panose="02020503060305020303" pitchFamily="18" charset="0"/>
              </a:rPr>
              <a:t>Problem Statement:</a:t>
            </a:r>
            <a:r>
              <a:rPr lang="en-US" sz="2400">
                <a:latin typeface="Bell MT" panose="02020503060305020303" pitchFamily="18" charset="0"/>
              </a:rPr>
              <a:t> Early detection of diabetic retinopathy is crucial for preventing vision loss, but manual screening can be time-consuming.</a:t>
            </a:r>
          </a:p>
          <a:p>
            <a:pPr>
              <a:lnSpc>
                <a:spcPct val="150000"/>
              </a:lnSpc>
            </a:pPr>
            <a:endParaRPr lang="en-IN">
              <a:latin typeface="Bell MT" panose="020205030603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6BD561-B8D0-E824-3C05-C045330C74F8}"/>
              </a:ext>
            </a:extLst>
          </p:cNvPr>
          <p:cNvCxnSpPr>
            <a:cxnSpLocks/>
          </p:cNvCxnSpPr>
          <p:nvPr/>
        </p:nvCxnSpPr>
        <p:spPr>
          <a:xfrm>
            <a:off x="838200" y="1429973"/>
            <a:ext cx="7324928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7449-A927-D809-CEDC-77F48FB3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36" y="452718"/>
            <a:ext cx="9369898" cy="1142618"/>
          </a:xfrm>
        </p:spPr>
        <p:txBody>
          <a:bodyPr/>
          <a:lstStyle/>
          <a:p>
            <a:r>
              <a:rPr lang="en-IN" b="1">
                <a:latin typeface="Bell MT" panose="02020503060305020303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60992-BEE6-B348-262D-89F5A4A95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8" y="1926458"/>
            <a:ext cx="10535055" cy="4195481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>
                <a:latin typeface="Bell MT" panose="02020503060305020303" pitchFamily="18" charset="0"/>
              </a:rPr>
              <a:t>Source:</a:t>
            </a:r>
            <a:r>
              <a:rPr lang="en-IN" sz="2400">
                <a:latin typeface="Bell MT" panose="02020503060305020303" pitchFamily="18" charset="0"/>
              </a:rPr>
              <a:t> Healthcare diagnostics dataset (P653_pronostico_dataset.csv).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>
                <a:latin typeface="Bell MT" panose="02020503060305020303" pitchFamily="18" charset="0"/>
              </a:rPr>
              <a:t>Size:</a:t>
            </a:r>
            <a:r>
              <a:rPr lang="en-IN" sz="2400">
                <a:latin typeface="Bell MT" panose="02020503060305020303" pitchFamily="18" charset="0"/>
              </a:rPr>
              <a:t> 6,000 patient records with 6 initial features.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>
                <a:latin typeface="Bell MT" panose="02020503060305020303" pitchFamily="18" charset="0"/>
              </a:rPr>
              <a:t>Key Features:</a:t>
            </a:r>
            <a:r>
              <a:rPr lang="en-IN" sz="2400">
                <a:latin typeface="Bell MT" panose="02020503060305020303" pitchFamily="18" charset="0"/>
              </a:rPr>
              <a:t> age, systolic_bp (Systolic BP), diastolic_bp (Diastolic BP), and cholesterol.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>
                <a:latin typeface="Bell MT" panose="02020503060305020303" pitchFamily="18" charset="0"/>
              </a:rPr>
              <a:t>Target Variable:</a:t>
            </a:r>
            <a:r>
              <a:rPr lang="en-IN" sz="2400">
                <a:latin typeface="Bell MT" panose="02020503060305020303" pitchFamily="18" charset="0"/>
              </a:rPr>
              <a:t> prognosis (0 = No Retinopathy, 1 = Retinopathy).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C0647F-CBCB-0D75-63ED-1FE25056F436}"/>
              </a:ext>
            </a:extLst>
          </p:cNvPr>
          <p:cNvCxnSpPr>
            <a:cxnSpLocks/>
          </p:cNvCxnSpPr>
          <p:nvPr/>
        </p:nvCxnSpPr>
        <p:spPr>
          <a:xfrm>
            <a:off x="817123" y="1332688"/>
            <a:ext cx="400779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33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B3ED-E818-7AF7-1046-3DAE6C29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21014"/>
            <a:ext cx="9404723" cy="1011675"/>
          </a:xfrm>
        </p:spPr>
        <p:txBody>
          <a:bodyPr/>
          <a:lstStyle/>
          <a:p>
            <a:r>
              <a:rPr lang="en-IN" b="1">
                <a:latin typeface="Bell MT" panose="02020503060305020303" pitchFamily="18" charset="0"/>
              </a:rPr>
              <a:t>Exploratory Data Analysis (EDA)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ABA39C-F227-4186-118A-E5D2F162A8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210" y="1655359"/>
            <a:ext cx="5700408" cy="443415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40517B-9960-D596-95AC-180F04ECA748}"/>
              </a:ext>
            </a:extLst>
          </p:cNvPr>
          <p:cNvCxnSpPr>
            <a:cxnSpLocks/>
          </p:cNvCxnSpPr>
          <p:nvPr/>
        </p:nvCxnSpPr>
        <p:spPr>
          <a:xfrm>
            <a:off x="739302" y="1167318"/>
            <a:ext cx="763621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9BBF6D66-8D60-81CA-0C39-40E041FC586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86382" y="1409857"/>
            <a:ext cx="5165388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ell MT" panose="02020503060305020303" pitchFamily="18" charset="0"/>
              </a:rPr>
              <a:t>Data Cleaning: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Checked for missing values (None found).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Verified duplicate rows (0 duplicates).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Removed unnecessary columns like 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ell MT" panose="02020503060305020303" pitchFamily="18" charset="0"/>
              </a:rPr>
              <a:t>Statistical Summary: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Mean Age: ~60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Target Distribution: Balanced dataset with ~3,087 positive cases and ~2,913 negative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ell MT" panose="02020503060305020303" pitchFamily="18" charset="0"/>
              </a:rPr>
              <a:t>Visualizations: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>
                <a:latin typeface="Bell MT" panose="02020503060305020303" pitchFamily="18" charset="0"/>
              </a:rPr>
              <a:t>Utilized Matplotlib and Seaborn (likely sns.histplot or sns.boxplot) to check for outliers and the spread of data across different ages and blood pressure levels.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ell MT" panose="02020503060305020303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>
                <a:latin typeface="Bell MT" panose="02020503060305020303" pitchFamily="18" charset="0"/>
              </a:rPr>
              <a:t>Correlation Heatmap: sns.heatmap to analyze the relationships between numerical features like systolic_bp, diastolic_bp, and cholesterol</a:t>
            </a:r>
            <a:r>
              <a:rPr lang="en-US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Distribution plots for age and blood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28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554F-9853-508B-7FA8-9D7BB752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15" y="452718"/>
            <a:ext cx="9404723" cy="1400530"/>
          </a:xfrm>
        </p:spPr>
        <p:txBody>
          <a:bodyPr/>
          <a:lstStyle/>
          <a:p>
            <a:r>
              <a:rPr lang="en-IN" b="1">
                <a:latin typeface="Bell MT" panose="02020503060305020303" pitchFamily="18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9DB1E-5E4F-9307-A94E-6B2C678DB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15" y="1778004"/>
            <a:ext cx="9296739" cy="435863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Bell MT" panose="02020503060305020303" pitchFamily="18" charset="0"/>
              </a:rPr>
              <a:t>Categorical Encoding:</a:t>
            </a:r>
            <a:r>
              <a:rPr lang="en-US" sz="2400">
                <a:latin typeface="Bell MT" panose="02020503060305020303" pitchFamily="18" charset="0"/>
              </a:rPr>
              <a:t> Converted the prognosis text labels ("retinopathy", "no_retinopathy") into numeric format (1 and 0) for model compatibility.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Bell MT" panose="02020503060305020303" pitchFamily="18" charset="0"/>
              </a:rPr>
              <a:t>Feature Scaling:</a:t>
            </a:r>
            <a:r>
              <a:rPr lang="en-US" sz="2400">
                <a:latin typeface="Bell MT" panose="02020503060305020303" pitchFamily="18" charset="0"/>
              </a:rPr>
              <a:t> Applied StandardScaler to normalize numerical features like systolic_bp and cholesterol, ensuring features with larger ranges don't dominate the model.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Bell MT" panose="02020503060305020303" pitchFamily="18" charset="0"/>
              </a:rPr>
              <a:t>Data Splitting:</a:t>
            </a:r>
            <a:r>
              <a:rPr lang="en-US" sz="2400">
                <a:latin typeface="Bell MT" panose="02020503060305020303" pitchFamily="18" charset="0"/>
              </a:rPr>
              <a:t> Divided the data into training and testing sets (typically 80/20 or 70/30) to evaluate performance on unseen data.</a:t>
            </a:r>
          </a:p>
          <a:p>
            <a:pPr marL="0" indent="0">
              <a:buNone/>
            </a:pPr>
            <a:endParaRPr lang="en-IN" sz="2400">
              <a:latin typeface="Bell MT" panose="02020503060305020303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2D7868-FB3B-3083-5836-C8E608D38A16}"/>
              </a:ext>
            </a:extLst>
          </p:cNvPr>
          <p:cNvCxnSpPr/>
          <p:nvPr/>
        </p:nvCxnSpPr>
        <p:spPr>
          <a:xfrm>
            <a:off x="924128" y="1313234"/>
            <a:ext cx="453134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35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D6C7-CE67-8ADC-D657-7AD05479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452718"/>
            <a:ext cx="9824720" cy="990002"/>
          </a:xfrm>
        </p:spPr>
        <p:txBody>
          <a:bodyPr/>
          <a:lstStyle/>
          <a:p>
            <a:r>
              <a:rPr lang="en-US" b="1">
                <a:latin typeface="Bell MT" panose="02020503060305020303" pitchFamily="18" charset="0"/>
              </a:rPr>
              <a:t>Model Building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A680B-1F8E-53E3-2967-D0B7522A9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240" y="1859280"/>
            <a:ext cx="5974080" cy="4397059"/>
          </a:xfrm>
        </p:spPr>
        <p:txBody>
          <a:bodyPr>
            <a:normAutofit/>
          </a:bodyPr>
          <a:lstStyle/>
          <a:p>
            <a:r>
              <a:rPr lang="en-US" sz="2000" b="1">
                <a:latin typeface="Bell MT" panose="02020503060305020303" pitchFamily="18" charset="0"/>
              </a:rPr>
              <a:t>Feature Selection and Target Definition:</a:t>
            </a:r>
            <a:r>
              <a:rPr lang="en-US" sz="2000">
                <a:latin typeface="Bell MT" panose="02020503060305020303" pitchFamily="18" charset="0"/>
              </a:rPr>
              <a:t> Relevant features are selected and the target variable is defined for prediction.</a:t>
            </a:r>
          </a:p>
          <a:p>
            <a:r>
              <a:rPr lang="en-US" sz="2000" b="1">
                <a:latin typeface="Bell MT" panose="02020503060305020303" pitchFamily="18" charset="0"/>
              </a:rPr>
              <a:t>Data Splitting:</a:t>
            </a:r>
            <a:r>
              <a:rPr lang="en-US" sz="2000">
                <a:latin typeface="Bell MT" panose="02020503060305020303" pitchFamily="18" charset="0"/>
              </a:rPr>
              <a:t> The dataset is divided into training and testing sets to evaluate model performance.</a:t>
            </a:r>
          </a:p>
          <a:p>
            <a:r>
              <a:rPr lang="en-US" sz="2000" b="1">
                <a:latin typeface="Bell MT" panose="02020503060305020303" pitchFamily="18" charset="0"/>
              </a:rPr>
              <a:t>Model Selection:</a:t>
            </a:r>
            <a:r>
              <a:rPr lang="en-US" sz="2000">
                <a:latin typeface="Bell MT" panose="02020503060305020303" pitchFamily="18" charset="0"/>
              </a:rPr>
              <a:t> Appropriate machine learning algorithms are chosen based on the problem type.</a:t>
            </a:r>
          </a:p>
          <a:p>
            <a:r>
              <a:rPr lang="en-US" sz="2000" b="1">
                <a:latin typeface="Bell MT" panose="02020503060305020303" pitchFamily="18" charset="0"/>
              </a:rPr>
              <a:t>Model Training:</a:t>
            </a:r>
            <a:r>
              <a:rPr lang="en-US" sz="2000">
                <a:latin typeface="Bell MT" panose="02020503060305020303" pitchFamily="18" charset="0"/>
              </a:rPr>
              <a:t> The selected models are trained using the training data to learn patterns.</a:t>
            </a:r>
          </a:p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8D635B8-11B5-72D2-3889-C70E490308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80" y="1859280"/>
            <a:ext cx="4734560" cy="41656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76D619-B916-87FA-E763-AFD9392CF88A}"/>
              </a:ext>
            </a:extLst>
          </p:cNvPr>
          <p:cNvCxnSpPr>
            <a:cxnSpLocks/>
          </p:cNvCxnSpPr>
          <p:nvPr/>
        </p:nvCxnSpPr>
        <p:spPr>
          <a:xfrm>
            <a:off x="589280" y="1270000"/>
            <a:ext cx="35356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23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1B3E-03EC-5C56-DB79-3C31F88B1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455" y="424197"/>
            <a:ext cx="9404723" cy="884173"/>
          </a:xfrm>
        </p:spPr>
        <p:txBody>
          <a:bodyPr/>
          <a:lstStyle/>
          <a:p>
            <a:r>
              <a:rPr lang="en-US" b="1">
                <a:latin typeface="Bell MT" panose="02020503060305020303" pitchFamily="18" charset="0"/>
              </a:rPr>
              <a:t>Model Evaluation</a:t>
            </a:r>
            <a:endParaRPr lang="en-IN" b="1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6E0BE-D92A-6D3F-ADD7-14238704F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4204" y="1449422"/>
            <a:ext cx="5404797" cy="4806918"/>
          </a:xfrm>
        </p:spPr>
        <p:txBody>
          <a:bodyPr>
            <a:normAutofit lnSpcReduction="10000"/>
          </a:bodyPr>
          <a:lstStyle/>
          <a:p>
            <a:r>
              <a:rPr lang="en-US" b="1">
                <a:latin typeface="Bell MT" panose="02020503060305020303" pitchFamily="18" charset="0"/>
              </a:rPr>
              <a:t>Metrics Calculation:</a:t>
            </a:r>
            <a:r>
              <a:rPr lang="en-US">
                <a:latin typeface="Bell MT" panose="02020503060305020303" pitchFamily="18" charset="0"/>
              </a:rPr>
              <a:t> Performance is measured using metrics like Precision , Recall and F1 score.</a:t>
            </a:r>
          </a:p>
          <a:p>
            <a:r>
              <a:rPr lang="en-US" b="1">
                <a:latin typeface="Bell MT" panose="02020503060305020303" pitchFamily="18" charset="0"/>
              </a:rPr>
              <a:t>The Winner:</a:t>
            </a:r>
            <a:r>
              <a:rPr lang="en-US">
                <a:latin typeface="Bell MT" panose="02020503060305020303" pitchFamily="18" charset="0"/>
              </a:rPr>
              <a:t> Logistic Regression provided the most stable performance across the test set with a high Area Under the Curve (AUC).</a:t>
            </a:r>
          </a:p>
          <a:p>
            <a:r>
              <a:rPr lang="en-US" b="1">
                <a:latin typeface="Bell MT" panose="02020503060305020303" pitchFamily="18" charset="0"/>
              </a:rPr>
              <a:t> The ROC Curve:</a:t>
            </a:r>
            <a:endParaRPr lang="en-US">
              <a:latin typeface="Bell MT" panose="02020503060305020303" pitchFamily="18" charset="0"/>
            </a:endParaRPr>
          </a:p>
          <a:p>
            <a:r>
              <a:rPr lang="en-US" b="1">
                <a:latin typeface="Bell MT" panose="02020503060305020303" pitchFamily="18" charset="0"/>
              </a:rPr>
              <a:t>Purpose:</a:t>
            </a:r>
            <a:r>
              <a:rPr lang="en-US">
                <a:latin typeface="Bell MT" panose="02020503060305020303" pitchFamily="18" charset="0"/>
              </a:rPr>
              <a:t> The ROC Curve visually represents the trade-off between sensitivity (True Positives) and specificity (False Positives).</a:t>
            </a:r>
          </a:p>
          <a:p>
            <a:r>
              <a:rPr lang="en-US" b="1">
                <a:latin typeface="Bell MT" panose="02020503060305020303" pitchFamily="18" charset="0"/>
              </a:rPr>
              <a:t>Interpretation:</a:t>
            </a:r>
            <a:r>
              <a:rPr lang="en-US">
                <a:latin typeface="Bell MT" panose="02020503060305020303" pitchFamily="18" charset="0"/>
              </a:rPr>
              <a:t> The closer the curve is to the top-left corner, the better the model is at distinguishing between healthy and diseased patients.</a:t>
            </a:r>
          </a:p>
          <a:p>
            <a:r>
              <a:rPr lang="en-US">
                <a:latin typeface="Bell MT" panose="02020503060305020303" pitchFamily="18" charset="0"/>
              </a:rPr>
              <a:t>As we got the logistic regression as the best model, we are going to do a deployment prediction (Streamlit App) to generate the predictions based on given inputs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9D5A8AA-CE94-F7DB-4216-3C9910C402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001948"/>
            <a:ext cx="3681379" cy="285020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6F3FCB-33EA-F9C8-2796-828599A165B1}"/>
              </a:ext>
            </a:extLst>
          </p:cNvPr>
          <p:cNvCxnSpPr>
            <a:cxnSpLocks/>
          </p:cNvCxnSpPr>
          <p:nvPr/>
        </p:nvCxnSpPr>
        <p:spPr>
          <a:xfrm>
            <a:off x="710118" y="1167318"/>
            <a:ext cx="399806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D2198B2-4F13-4F18-2067-A6679E552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3945294"/>
            <a:ext cx="4036978" cy="25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3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B0D6-B7FC-C750-22A5-C39C1B2F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Bell MT" panose="02020503060305020303" pitchFamily="18" charset="0"/>
              </a:rPr>
              <a:t>Deployment (StreamlitApp)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F8F8D-756A-4238-EFF5-20D77E06D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" y="1853249"/>
            <a:ext cx="6014720" cy="4403090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1800" b="1">
                <a:latin typeface="Bell MT" panose="02020503060305020303" pitchFamily="18" charset="0"/>
              </a:rPr>
              <a:t>Framework:</a:t>
            </a:r>
            <a:r>
              <a:rPr lang="en-US" sz="1800">
                <a:latin typeface="Bell MT" panose="02020503060305020303" pitchFamily="18" charset="0"/>
              </a:rPr>
              <a:t> Built a web interface using </a:t>
            </a:r>
            <a:r>
              <a:rPr lang="en-US" sz="1800" b="1">
                <a:latin typeface="Bell MT" panose="02020503060305020303" pitchFamily="18" charset="0"/>
              </a:rPr>
              <a:t>Streamlit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Bell MT" panose="02020503060305020303" pitchFamily="18" charset="0"/>
              </a:rPr>
              <a:t>The trained model is loaded into a Streamlit application for user interaction.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Bell MT" panose="02020503060305020303" pitchFamily="18" charset="0"/>
              </a:rPr>
              <a:t>A simple user interface is created to accept input features from users.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Bell MT" panose="02020503060305020303" pitchFamily="18" charset="0"/>
              </a:rPr>
              <a:t>The input data is processed and converted into the required format for prediction.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Bell MT" panose="02020503060305020303" pitchFamily="18" charset="0"/>
              </a:rPr>
              <a:t>The model generates predictions based on the given inputs.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Bell MT" panose="02020503060305020303" pitchFamily="18" charset="0"/>
              </a:rPr>
              <a:t>The prediction results are displayed instantly on the web app.</a:t>
            </a:r>
          </a:p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19DC75-7E43-94A4-DFBA-E2EDF5186F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61" y="2066608"/>
            <a:ext cx="5256848" cy="378152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98EF3A-DCD9-CF7B-33D6-5E8B64B89F16}"/>
              </a:ext>
            </a:extLst>
          </p:cNvPr>
          <p:cNvCxnSpPr>
            <a:cxnSpLocks/>
          </p:cNvCxnSpPr>
          <p:nvPr/>
        </p:nvCxnSpPr>
        <p:spPr>
          <a:xfrm>
            <a:off x="782320" y="1371600"/>
            <a:ext cx="62280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8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BA3E-D8C0-4E52-C939-66E22A29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422237"/>
            <a:ext cx="9404723" cy="837599"/>
          </a:xfrm>
        </p:spPr>
        <p:txBody>
          <a:bodyPr/>
          <a:lstStyle/>
          <a:p>
            <a:r>
              <a:rPr lang="en-US" b="1">
                <a:latin typeface="Bell MT" panose="02020503060305020303" pitchFamily="18" charset="0"/>
              </a:rPr>
              <a:t>Results &amp; Insights</a:t>
            </a:r>
            <a:endParaRPr lang="en-IN" b="1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5C54E-8C1C-3E3C-845E-718A6604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432567"/>
            <a:ext cx="10901680" cy="5161269"/>
          </a:xfrm>
        </p:spPr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>
                <a:latin typeface="Bell MT" panose="02020503060305020303" pitchFamily="18" charset="0"/>
              </a:rPr>
              <a:t>The model achieved good accuracy and performed well on test data.</a:t>
            </a:r>
          </a:p>
          <a:p>
            <a:pPr>
              <a:buFont typeface="Wingdings" panose="05000000000000000000" charset="0"/>
              <a:buChar char="Ø"/>
            </a:pPr>
            <a:r>
              <a:rPr lang="en-US">
                <a:latin typeface="Bell MT" panose="02020503060305020303" pitchFamily="18" charset="0"/>
              </a:rPr>
              <a:t>Important features were identified as key drivers of predictions.</a:t>
            </a:r>
          </a:p>
          <a:p>
            <a:pPr>
              <a:buFont typeface="Wingdings" panose="05000000000000000000" charset="0"/>
              <a:buChar char="Ø"/>
            </a:pPr>
            <a:r>
              <a:rPr lang="en-US">
                <a:latin typeface="Bell MT" panose="02020503060305020303" pitchFamily="18" charset="0"/>
              </a:rPr>
              <a:t>Data preprocessing and outlier handling improved model performance.</a:t>
            </a:r>
          </a:p>
          <a:p>
            <a:pPr>
              <a:buFont typeface="Wingdings" panose="05000000000000000000" charset="0"/>
              <a:buChar char="Ø"/>
            </a:pPr>
            <a:r>
              <a:rPr lang="en-US">
                <a:latin typeface="Bell MT" panose="02020503060305020303" pitchFamily="18" charset="0"/>
              </a:rPr>
              <a:t>Strong relationships between variables were observed through analysis.</a:t>
            </a:r>
          </a:p>
          <a:p>
            <a:pPr>
              <a:buFont typeface="Wingdings" panose="05000000000000000000" charset="0"/>
              <a:buChar char="Ø"/>
            </a:pPr>
            <a:r>
              <a:rPr lang="en-US">
                <a:latin typeface="Bell MT" panose="02020503060305020303" pitchFamily="18" charset="0"/>
              </a:rPr>
              <a:t>The model provides reliable predictions for decision-making.</a:t>
            </a:r>
          </a:p>
          <a:p>
            <a:pPr marL="0" indent="0">
              <a:buNone/>
            </a:pPr>
            <a:endParaRPr lang="en-US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701EE0-DA22-0054-4541-D07B80910044}"/>
              </a:ext>
            </a:extLst>
          </p:cNvPr>
          <p:cNvCxnSpPr>
            <a:cxnSpLocks/>
          </p:cNvCxnSpPr>
          <p:nvPr/>
        </p:nvCxnSpPr>
        <p:spPr>
          <a:xfrm>
            <a:off x="645130" y="1107440"/>
            <a:ext cx="410464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864205A-799D-A972-C999-AD98B432F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50" y="3729296"/>
            <a:ext cx="6336301" cy="269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182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FFF1-4113-693E-EE90-5DBAA7E9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22" y="600215"/>
            <a:ext cx="9217714" cy="1400530"/>
          </a:xfrm>
        </p:spPr>
        <p:txBody>
          <a:bodyPr/>
          <a:lstStyle/>
          <a:p>
            <a:r>
              <a:rPr lang="en-US" b="1">
                <a:latin typeface="Bell MT" panose="02020503060305020303" pitchFamily="18" charset="0"/>
              </a:rPr>
              <a:t>Challges Faced</a:t>
            </a:r>
            <a:endParaRPr lang="en-IN" b="1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346E9-0F69-D110-B901-DA355A06C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1605292"/>
            <a:ext cx="9216733" cy="4643108"/>
          </a:xfrm>
        </p:spPr>
        <p:txBody>
          <a:bodyPr/>
          <a:lstStyle/>
          <a:p>
            <a:r>
              <a:rPr lang="en-US" sz="2400">
                <a:latin typeface="Bell MT" panose="02020503060305020303" pitchFamily="18" charset="0"/>
              </a:rPr>
              <a:t>Understanding of medical meaning of variables such as systolic and diastolic , cholesterol.</a:t>
            </a:r>
          </a:p>
          <a:p>
            <a:r>
              <a:rPr lang="en-US" sz="2400">
                <a:latin typeface="Bell MT" panose="02020503060305020303" pitchFamily="18" charset="0"/>
              </a:rPr>
              <a:t>During visualization of boxplots , we have got outliers so , instead of removing them blindly we analyzed them carefully because extreme values may represent high-risk patients.</a:t>
            </a:r>
          </a:p>
          <a:p>
            <a:r>
              <a:rPr lang="en-US" sz="2400">
                <a:latin typeface="Bell MT" panose="02020503060305020303" pitchFamily="18" charset="0"/>
              </a:rPr>
              <a:t>We used scatter plots and correlation heatmaps to identify relationships between features like blood pressure and cholesterol.</a:t>
            </a:r>
          </a:p>
          <a:p>
            <a:r>
              <a:rPr lang="en-US" sz="2400">
                <a:latin typeface="Bell MT" panose="02020503060305020303" pitchFamily="18" charset="0"/>
              </a:rPr>
              <a:t>Multiple visualizations were used to better understand trends and distributions in the data.</a:t>
            </a:r>
            <a:endParaRPr lang="en-IN" sz="2400">
              <a:latin typeface="Bell MT" panose="02020503060305020303" pitchFamily="18" charset="0"/>
            </a:endParaRPr>
          </a:p>
          <a:p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33EC61-AF6A-239D-10CD-9D4791C1D7A7}"/>
              </a:ext>
            </a:extLst>
          </p:cNvPr>
          <p:cNvCxnSpPr/>
          <p:nvPr/>
        </p:nvCxnSpPr>
        <p:spPr>
          <a:xfrm>
            <a:off x="924560" y="1300480"/>
            <a:ext cx="359664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98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8E18-BF73-90BD-29E4-B1AC5828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452718"/>
            <a:ext cx="9197394" cy="1084252"/>
          </a:xfrm>
        </p:spPr>
        <p:txBody>
          <a:bodyPr/>
          <a:lstStyle/>
          <a:p>
            <a:r>
              <a:rPr lang="en-US" b="1">
                <a:latin typeface="Bell MT" panose="02020503060305020303" pitchFamily="18" charset="0"/>
              </a:rPr>
              <a:t>Conclusion</a:t>
            </a:r>
            <a:endParaRPr lang="en-IN" b="1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34FC-D9B3-BFEC-2CFB-67B3FD7B6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32" y="1853247"/>
            <a:ext cx="10621328" cy="4252913"/>
          </a:xfrm>
        </p:spPr>
        <p:txBody>
          <a:bodyPr/>
          <a:lstStyle/>
          <a:p>
            <a:r>
              <a:rPr lang="en-US" sz="2400">
                <a:latin typeface="Bell MT" panose="02020503060305020303" pitchFamily="18" charset="0"/>
              </a:rPr>
              <a:t>The project successfully built a complete machine learning pipeline from data preprocessing to deployment.</a:t>
            </a:r>
          </a:p>
          <a:p>
            <a:r>
              <a:rPr lang="en-US" sz="2400">
                <a:latin typeface="Bell MT" panose="02020503060305020303" pitchFamily="18" charset="0"/>
              </a:rPr>
              <a:t>Exploratory Data Analysis helped in understanding patterns and improving data quality.</a:t>
            </a:r>
          </a:p>
          <a:p>
            <a:r>
              <a:rPr lang="en-US" sz="2400">
                <a:latin typeface="Bell MT" panose="02020503060305020303" pitchFamily="18" charset="0"/>
              </a:rPr>
              <a:t>Multiple models were evaluated to select the best-performing one.</a:t>
            </a:r>
          </a:p>
          <a:p>
            <a:r>
              <a:rPr lang="en-US" sz="2400">
                <a:latin typeface="Bell MT" panose="02020503060305020303" pitchFamily="18" charset="0"/>
              </a:rPr>
              <a:t>The deployed Streamlit app makes the model accessible for real-time use.</a:t>
            </a:r>
          </a:p>
          <a:p>
            <a:r>
              <a:rPr lang="en-US" sz="2400">
                <a:latin typeface="Bell MT" panose="02020503060305020303" pitchFamily="18" charset="0"/>
              </a:rPr>
              <a:t>The solution enables accurate predictions and supports data-driven decision-making.</a:t>
            </a:r>
          </a:p>
          <a:p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020E3B-AE48-6536-A5FB-6003BB16E68F}"/>
              </a:ext>
            </a:extLst>
          </p:cNvPr>
          <p:cNvCxnSpPr/>
          <p:nvPr/>
        </p:nvCxnSpPr>
        <p:spPr>
          <a:xfrm>
            <a:off x="1038265" y="1229360"/>
            <a:ext cx="24892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908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3F5069-817B-5514-B9A1-1D33B199A9C7}"/>
              </a:ext>
            </a:extLst>
          </p:cNvPr>
          <p:cNvSpPr txBox="1"/>
          <p:nvPr/>
        </p:nvSpPr>
        <p:spPr>
          <a:xfrm>
            <a:off x="2387600" y="2712720"/>
            <a:ext cx="72237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>
                <a:latin typeface="Bell MT" panose="02020503060305020303" pitchFamily="18" charset="0"/>
              </a:rPr>
              <a:t>THANK YOU</a:t>
            </a:r>
            <a:endParaRPr lang="en-IN" sz="880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9550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845</TotalTime>
  <Words>841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Bell MT</vt:lpstr>
      <vt:lpstr>Calibri</vt:lpstr>
      <vt:lpstr>Century Gothic</vt:lpstr>
      <vt:lpstr>Wingdings</vt:lpstr>
      <vt:lpstr>Wingdings 3</vt:lpstr>
      <vt:lpstr>Ion</vt:lpstr>
      <vt:lpstr>PREDICT DIABETIC RETINOPATHY DISEASE </vt:lpstr>
      <vt:lpstr>Agenda</vt:lpstr>
      <vt:lpstr>Project title and Introduction</vt:lpstr>
      <vt:lpstr>Dataset Overview</vt:lpstr>
      <vt:lpstr>Exploratory Data Analysis (EDA)</vt:lpstr>
      <vt:lpstr>Feature Engineering</vt:lpstr>
      <vt:lpstr>Model Building</vt:lpstr>
      <vt:lpstr>Model Evaluation</vt:lpstr>
      <vt:lpstr>Deployment (StreamlitApp) </vt:lpstr>
      <vt:lpstr>Results &amp; Insights</vt:lpstr>
      <vt:lpstr>Challges Faced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Sweety Koppula</dc:creator>
  <cp:lastModifiedBy>Sweety Koppula</cp:lastModifiedBy>
  <cp:revision>6</cp:revision>
  <dcterms:created xsi:type="dcterms:W3CDTF">2026-03-28T08:44:08Z</dcterms:created>
  <dcterms:modified xsi:type="dcterms:W3CDTF">2026-03-31T10:57:09Z</dcterms:modified>
</cp:coreProperties>
</file>